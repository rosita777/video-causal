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f91d1e3ea145c4" /><Relationship Type="http://schemas.openxmlformats.org/officeDocument/2006/relationships/extended-properties" Target="/docProps/app.xml" Id="Rfbaddd33fb21405b" /><Relationship Type="http://schemas.openxmlformats.org/officeDocument/2006/relationships/officeDocument" Target="/ppt/presentation.xml" Id="Rfb3a119be5d545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3b5252a0e74cc3"/>
  </p:sldMasterIdLst>
  <p:notesMasterIdLst>
    <p:notesMasterId xmlns:r="http://schemas.openxmlformats.org/officeDocument/2006/relationships" r:id="Rc86ec50a2f364088"/>
  </p:notesMasterIdLst>
  <p:sldIdLst>
    <p:sldId xmlns:r="http://schemas.openxmlformats.org/officeDocument/2006/relationships" id="256" r:id="Rc001cd7824e14532"/>
  </p:sldIdLst>
  <p:sldSz cx="12192000" cy="5524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781d2789164176" /><Relationship Type="http://schemas.openxmlformats.org/officeDocument/2006/relationships/slideMaster" Target="/ppt/slideMasters/slideMaster1.xml" Id="Rd93b5252a0e74cc3" /><Relationship Type="http://schemas.openxmlformats.org/officeDocument/2006/relationships/notesMaster" Target="/ppt/notesMasters/notesMaster1.xml" Id="Rc86ec50a2f364088" /><Relationship Type="http://schemas.openxmlformats.org/officeDocument/2006/relationships/presProps" Target="/ppt/presProps.xml" Id="R9f9f7648fb7a43e6" /><Relationship Type="http://schemas.openxmlformats.org/officeDocument/2006/relationships/viewProps" Target="/ppt/viewProps.xml" Id="Rd80ff8955a384c77" /><Relationship Type="http://schemas.openxmlformats.org/officeDocument/2006/relationships/tableStyles" Target="/ppt/tableStyles.xml" Id="R5d60e681b26b47fd" /><Relationship Type="http://schemas.openxmlformats.org/officeDocument/2006/relationships/slide" Target="/ppt/slides/slide1.xml" Id="Rc001cd7824e145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bd05334edd49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960cc9f6fe48da" /><Relationship Type="http://schemas.openxmlformats.org/officeDocument/2006/relationships/notesMaster" Target="/ppt/notesMasters/notesMaster1.xml" Id="R3b6f0d35431f41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Causal-role erasure and Source-slot Randomized Counterfactual Distillation (SRCD).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Composition follows the user-supplied Rewrite Pipeline / Review Pipeline reference: colored dashed stage boundaries, subdued semantic fills, bold colored headings, and consistent black outline icons. No reference-paper logos or content were copied.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prompts and basin diagrams are illustrative, not measured outputs or literal registered training prompts. In the task target the source, trigger and dependent footprint are absent, and the receiver/context remain. Training uses independently sampled screened source-free proxies. The noncausal ball vignette illustrates specificity evaluation and is not an added hard-negative training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Matched and SRCD train distinct mechanism-specific LoRA adapters. The sole treatment difference is the factual source identity. Both share target video/latent, source-free conditioning, teacher, loss, data order, noise/timestep draws, preservation data, initialization, optimizer, checkpoint and inference configuration. The unchanged footprint clause stays in both factual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teacher takes the same noised target latent and timestep as the student with source-free prompt p_cf. The student takes the appropriate factual or augmented prompt. Generation-only negative exclusions are not teacher inputs. Each arm alternates erasure updates and preservation matching on generic video/prompt bindings. This is not a summed erase-plus-preservation loss on one minibatch.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 implementation and notation: paper/sections/03_problem_formulation.tex and paper/sections/04_method.tex in the video-causal-v3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Icons: sourced unmodified SVG paths from the bundled Lucide 1.8.0 package, https://lucide.dev. Icons use their original SVG paths. Scientific diagrams, connectors, fields and text are native editable PowerPoint objects.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ISC License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Copyright (c) 2026 Lucide Icons and Contributors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Permission to use, copy, modify, and/or distribute this software for any</a:t>
            </a:r>
          </a:p>
          <a:p xmlns:a="http://schemas.openxmlformats.org/drawingml/2006/main">
            <a:r>
              <a:t>purpose with or without fee is hereby granted, provided that the above</a:t>
            </a:r>
          </a:p>
          <a:p xmlns:a="http://schemas.openxmlformats.org/drawingml/2006/main">
            <a:r>
              <a:t>copyright notice and this permission notice appear in all copies.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SOFTWARE IS PROVIDED "AS IS" AND THE AUTHOR DISCLAIMS ALL WARRANTIES</a:t>
            </a:r>
          </a:p>
          <a:p xmlns:a="http://schemas.openxmlformats.org/drawingml/2006/main">
            <a:r>
              <a:t>WITH REGARD TO THIS SOFTWARE INCLUDING ALL IMPLIED WARRANTIES OF</a:t>
            </a:r>
          </a:p>
          <a:p xmlns:a="http://schemas.openxmlformats.org/drawingml/2006/main">
            <a:r>
              <a:t>MERCHANTABILITY AND FITNESS. IN NO EVENT SHALL THE AUTHOR BE LIABLE FOR</a:t>
            </a:r>
          </a:p>
          <a:p xmlns:a="http://schemas.openxmlformats.org/drawingml/2006/main">
            <a:r>
              <a:t>ANY SPECIAL, DIRECT, INDIRECT, OR CONSEQUENTIAL DAMAGES OR ANY DAMAGES</a:t>
            </a:r>
          </a:p>
          <a:p xmlns:a="http://schemas.openxmlformats.org/drawingml/2006/main">
            <a:r>
              <a:t>WHATSOEVER RESULTING FROM LOSS OF USE, DATA OR PROFITS, WHETHER IN AN</a:t>
            </a:r>
          </a:p>
          <a:p xmlns:a="http://schemas.openxmlformats.org/drawingml/2006/main">
            <a:r>
              <a:t>ACTION OF CONTRACT, NEGLIGENCE OR OTHER TORTIOUS ACTION, ARISING OUT OF</a:t>
            </a:r>
          </a:p>
          <a:p xmlns:a="http://schemas.openxmlformats.org/drawingml/2006/main">
            <a:r>
              <a:t>OR IN CONNECTION WITH THE USE OR PERFORMANCE OF THIS SOFTWARE.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---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following Lucide icons are derived from the Feather project: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MIT License (MIT) (for the icons listed above)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Copyright (c) 2013-present Cole Bemis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Permission is hereby granted, free of charge, to any person obtaining a copy</a:t>
            </a:r>
          </a:p>
          <a:p xmlns:a="http://schemas.openxmlformats.org/drawingml/2006/main">
            <a:r>
              <a:t>of this software and associated documentation files (the "Software"), to deal</a:t>
            </a:r>
          </a:p>
          <a:p xmlns:a="http://schemas.openxmlformats.org/drawingml/2006/main">
            <a:r>
              <a:t>in the Software without restriction, including without limitation the rights</a:t>
            </a:r>
          </a:p>
          <a:p xmlns:a="http://schemas.openxmlformats.org/drawingml/2006/main">
            <a:r>
              <a:t>to use, copy, modify, merge, publish, distribute, sublicense, and/or sell</a:t>
            </a:r>
          </a:p>
          <a:p xmlns:a="http://schemas.openxmlformats.org/drawingml/2006/main">
            <a:r>
              <a:t>copies of the Software, and to permit persons to whom the Software is</a:t>
            </a:r>
          </a:p>
          <a:p xmlns:a="http://schemas.openxmlformats.org/drawingml/2006/main">
            <a:r>
              <a:t>furnished to do so, subject to the following conditions: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above copyright notice and this permission notice shall be included in all</a:t>
            </a:r>
          </a:p>
          <a:p xmlns:a="http://schemas.openxmlformats.org/drawingml/2006/main">
            <a:r>
              <a:t>copies or substantial portions of the Software.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SOFTWARE IS PROVIDED "AS IS", WITHOUT WARRANTY OF ANY KIND, EXPRESS OR</a:t>
            </a:r>
          </a:p>
          <a:p xmlns:a="http://schemas.openxmlformats.org/drawingml/2006/main">
            <a:r>
              <a:t>IMPLIED, INCLUDING BUT NOT LIMITED TO THE WARRANTIES OF MERCHANTABILITY,</a:t>
            </a:r>
          </a:p>
          <a:p xmlns:a="http://schemas.openxmlformats.org/drawingml/2006/main">
            <a:r>
              <a:t>FITNESS FOR A PARTICULAR PURPOSE AND NONINFRINGEMENT. IN NO EVENT SHALL THE</a:t>
            </a:r>
          </a:p>
          <a:p xmlns:a="http://schemas.openxmlformats.org/drawingml/2006/main">
            <a:r>
              <a:t>AUTHORS OR COPYRIGHT HOLDERS BE LIABLE FOR ANY CLAIM, DAMAGES OR OTHER</a:t>
            </a:r>
          </a:p>
          <a:p xmlns:a="http://schemas.openxmlformats.org/drawingml/2006/main">
            <a:r>
              <a:t>LIABILITY, WHETHER IN AN ACTION OF CONTRACT, TORT OR OTHERWISE, ARISING FROM,</a:t>
            </a:r>
          </a:p>
          <a:p xmlns:a="http://schemas.openxmlformats.org/drawingml/2006/main">
            <a:r>
              <a:t>OUT OF OR IN CONNECTION WITH THE SOFTWARE OR THE USE OR OTHER DEALINGS IN THE</a:t>
            </a:r>
          </a:p>
          <a:p xmlns:a="http://schemas.openxmlformats.org/drawingml/2006/main">
            <a:r>
              <a:t>SOFTWARE.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59013ee9e4e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f503b1e4d4d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905f73f964a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910de148148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f22fa417440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4136e9f0e4ae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d1bd1665354e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62542378d441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4cee449a342a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9e923595ea462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7759a510c445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D216595-66AC-D742-900F-72854D15E9D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7C0F401-A2EB-DC44-A4E5-3B192FEF97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CF9208F-9BE3-214F-A44A-CAFDAE626C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02FAEC-FD1F-D24F-9CF5-2E4E8508E8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8C1DC57-CEF6-C849-9E24-127FAB596E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0C4E75-09D7-AE4D-B524-5AA7CE228A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DB70D3A-7A77-EA44-A794-7DDCAD9F8A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6391D59-3F51-904C-B25B-C72808D3D8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1606003-4A65-F749-9B01-5BB026C4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E095D5B-E6B6-DF42-AC37-F1522A0F54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3DFF25A-D835-6245-AFD8-3183F40CFA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770D480-5B09-9848-ADA2-333EF153BC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C75289A-BB45-C04E-99D1-B94C8D7368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B1D59FB-F57A-C34F-99E5-3786FD272F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7502591-BB99-5845-A77C-1B49C39FC8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217962-7CDC-C048-895D-539A612FB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8DF198A-4128-084C-A771-36786DAD43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7C58EEB-4562-564D-9263-52958DD74FD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7E78C2D-9C77-4442-829C-A2032CFB39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25E79EB-D9F0-1D41-BF07-8E1D8357CC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F470996-66FC-DA41-890B-8A342F7DEC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5505BA-48EF-A74D-BC1B-E1B23AEEFD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B09DAFE-C6BE-9840-9DE1-0698FD906E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0384DF-D310-3F44-8DA2-FC12A87A3FA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887AFE3-829C-2740-80E0-001BF2EC181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7AF1B43-EABB-4843-8C86-E07991A38D6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D78708A-C55D-5A4F-B620-74C92A614C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A2B0D0C-AF97-8241-944A-1A31189CE0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3631325-0051-0A49-BBB6-7C6B24A5CE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37CC6E-D1CD-5641-BB8E-759F621096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C225E8B-ADDC-1541-A569-EA243B4175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80C6CDB-BE13-324D-B029-7535C36995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3E58E7D-2479-7A41-9E1A-40FFA98B6F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2485E84-D53E-D34B-94DB-8F72F95A3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A05F887-1ED9-A847-A7D9-F905F3C79E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95EE3D7-DB9E-5249-9E12-316CC2B079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FFFC09-EE46-EC43-B83D-668F71A8A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30A7C49-57F6-5C43-956E-B92820625D2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0C56DBB-DC11-7742-A599-112FA55116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04CADC9-8E95-4C4A-B17B-35D594B94C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1B21E98-7D73-9F47-BAC8-E75032A117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607A896-ECD9-3446-882F-CF25096419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83FFBE-4619-3D44-A951-AF5D182D8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4CC8470-B2EE-9E43-8366-3B47ECF61AA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8F7F64D-AA22-7245-A68B-EB701571DD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BEF28A8-35D0-1742-BACA-20F6AA5B6B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F6590C2-7D95-074F-BB3E-1A93328E8D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68DEBF6-732F-404F-BCB7-1A6E3D7987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AB7B21-299C-5846-867D-30C6F360D2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C011020-14A6-DB49-BE59-C6F2CBD961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D5BD7C-79BB-4F47-BE72-E13160B033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919FAD2-3A3A-704E-838A-9C36C38A59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12B97D-3B96-934D-8AFF-A4B18C9E72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E3C2EB0-7184-D24F-B7CD-FBEA1C31F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C64CFD2-B31C-F941-98F5-B4524EDBDD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289D41E-2165-104F-89E1-AEDC6CFF26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DC2BB35-36A6-1845-A46C-52ADBCD071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5584FB6-D7CA-254C-8902-AA62E40BE9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98fe66a638474f" /><Relationship Type="http://schemas.openxmlformats.org/officeDocument/2006/relationships/slideLayout" Target="/ppt/slideLayouts/slideLayout1.xml" Id="Radd5fad172c040bc" /><Relationship Type="http://schemas.openxmlformats.org/officeDocument/2006/relationships/slideLayout" Target="/ppt/slideLayouts/slideLayout2.xml" Id="R9c5b7b68f0d84902" /><Relationship Type="http://schemas.openxmlformats.org/officeDocument/2006/relationships/slideLayout" Target="/ppt/slideLayouts/slideLayout3.xml" Id="Rba6b360559b244dd" /><Relationship Type="http://schemas.openxmlformats.org/officeDocument/2006/relationships/slideLayout" Target="/ppt/slideLayouts/slideLayout4.xml" Id="R5073d797e1554e39" /><Relationship Type="http://schemas.openxmlformats.org/officeDocument/2006/relationships/slideLayout" Target="/ppt/slideLayouts/slideLayout5.xml" Id="R31a4858583a340e6" /><Relationship Type="http://schemas.openxmlformats.org/officeDocument/2006/relationships/slideLayout" Target="/ppt/slideLayouts/slideLayout6.xml" Id="Ra335555feda346c7" /><Relationship Type="http://schemas.openxmlformats.org/officeDocument/2006/relationships/slideLayout" Target="/ppt/slideLayouts/slideLayout7.xml" Id="R65c13e46e3c1472b" /><Relationship Type="http://schemas.openxmlformats.org/officeDocument/2006/relationships/slideLayout" Target="/ppt/slideLayouts/slideLayout8.xml" Id="Rcb71e680a3754459" /><Relationship Type="http://schemas.openxmlformats.org/officeDocument/2006/relationships/slideLayout" Target="/ppt/slideLayouts/slideLayout9.xml" Id="R993684eb351d467b" /><Relationship Type="http://schemas.openxmlformats.org/officeDocument/2006/relationships/slideLayout" Target="/ppt/slideLayouts/slideLayout10.xml" Id="R151b80237938480f" /><Relationship Type="http://schemas.openxmlformats.org/officeDocument/2006/relationships/slideLayout" Target="/ppt/slideLayouts/slideLayout11.xml" Id="R6dfc2223c1e24ea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5304E23-D073-4A4F-AA92-045349301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00CA686-4A8F-774E-A27C-FA94D17FF7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80701D-F740-5C4F-A5FB-8C49BFBF603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777DA4F-E92C-A843-9A8E-2BECE3EE9FDA}" type="datetimeFigureOut">
              <a:t>2026/9/9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A28EE66-F34E-2B41-8834-ED98B902DFB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55D9479-2FA8-654C-BF3A-42C09D59FA3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7B54762-0E82-4B49-8A32-DD6727C2B72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d5fad172c040bc"/>
    <p:sldLayoutId xmlns:r="http://schemas.openxmlformats.org/officeDocument/2006/relationships" id="2147483650" r:id="R9c5b7b68f0d84902"/>
    <p:sldLayoutId xmlns:r="http://schemas.openxmlformats.org/officeDocument/2006/relationships" id="2147483651" r:id="Rba6b360559b244dd"/>
    <p:sldLayoutId xmlns:r="http://schemas.openxmlformats.org/officeDocument/2006/relationships" id="2147483652" r:id="R5073d797e1554e39"/>
    <p:sldLayoutId xmlns:r="http://schemas.openxmlformats.org/officeDocument/2006/relationships" id="2147483653" r:id="R31a4858583a340e6"/>
    <p:sldLayoutId xmlns:r="http://schemas.openxmlformats.org/officeDocument/2006/relationships" id="2147483654" r:id="Ra335555feda346c7"/>
    <p:sldLayoutId xmlns:r="http://schemas.openxmlformats.org/officeDocument/2006/relationships" id="2147483655" r:id="R65c13e46e3c1472b"/>
    <p:sldLayoutId xmlns:r="http://schemas.openxmlformats.org/officeDocument/2006/relationships" id="2147483656" r:id="Rcb71e680a3754459"/>
    <p:sldLayoutId xmlns:r="http://schemas.openxmlformats.org/officeDocument/2006/relationships" id="2147483657" r:id="R993684eb351d467b"/>
    <p:sldLayoutId xmlns:r="http://schemas.openxmlformats.org/officeDocument/2006/relationships" id="2147483658" r:id="R151b80237938480f"/>
    <p:sldLayoutId xmlns:r="http://schemas.openxmlformats.org/officeDocument/2006/relationships" id="2147483659" r:id="R6dfc2223c1e24ea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cb06be68e64fe7" /><Relationship Type="http://schemas.openxmlformats.org/officeDocument/2006/relationships/image" Target="/ppt/media/image.png" Id="Rc5afacde24164019" /><Relationship Type="http://schemas.openxmlformats.org/officeDocument/2006/relationships/image" Target="/ppt/media/image.svg" Id="Rc84137864eb34862" /><Relationship Type="http://schemas.openxmlformats.org/officeDocument/2006/relationships/image" Target="/ppt/media/image2.png" Id="Rcdb5779ce4c94750" /><Relationship Type="http://schemas.openxmlformats.org/officeDocument/2006/relationships/image" Target="/ppt/media/image2.svg" Id="Rf72d3c24c0524525" /><Relationship Type="http://schemas.openxmlformats.org/officeDocument/2006/relationships/image" Target="/ppt/media/image3.png" Id="R1e7f82d0572f42b3" /><Relationship Type="http://schemas.openxmlformats.org/officeDocument/2006/relationships/image" Target="/ppt/media/image3.svg" Id="Rbd1b5e5c395c44cb" /><Relationship Type="http://schemas.openxmlformats.org/officeDocument/2006/relationships/image" Target="/ppt/media/image4.png" Id="R74b09a17a1814cb1" /><Relationship Type="http://schemas.openxmlformats.org/officeDocument/2006/relationships/image" Target="/ppt/media/image4.svg" Id="R82352571adc14339" /><Relationship Type="http://schemas.openxmlformats.org/officeDocument/2006/relationships/image" Target="/ppt/media/image5.png" Id="R3a9f666ca34342f3" /><Relationship Type="http://schemas.openxmlformats.org/officeDocument/2006/relationships/image" Target="/ppt/media/image5.svg" Id="R32155d893bb44295" /><Relationship Type="http://schemas.openxmlformats.org/officeDocument/2006/relationships/image" Target="/ppt/media/image6.png" Id="R4644133aa855460f" /><Relationship Type="http://schemas.openxmlformats.org/officeDocument/2006/relationships/image" Target="/ppt/media/image6.svg" Id="Rbacb6c6f6ec146ee" /><Relationship Type="http://schemas.openxmlformats.org/officeDocument/2006/relationships/image" Target="/ppt/media/image7.png" Id="R3fe7fd75a38447b5" /><Relationship Type="http://schemas.openxmlformats.org/officeDocument/2006/relationships/image" Target="/ppt/media/image7.svg" Id="Re3ffecb4c08441a2" /><Relationship Type="http://schemas.openxmlformats.org/officeDocument/2006/relationships/image" Target="/ppt/media/image8.png" Id="R7b3c89cb0db2465d" /><Relationship Type="http://schemas.openxmlformats.org/officeDocument/2006/relationships/image" Target="/ppt/media/image8.svg" Id="R764b88c1e37c43a9" /><Relationship Type="http://schemas.openxmlformats.org/officeDocument/2006/relationships/image" Target="/ppt/media/image9.png" Id="R166efe305f2b47c5" /><Relationship Type="http://schemas.openxmlformats.org/officeDocument/2006/relationships/image" Target="/ppt/media/image9.svg" Id="R32c64635e49f4cb8" /><Relationship Type="http://schemas.openxmlformats.org/officeDocument/2006/relationships/image" Target="/ppt/media/image10.png" Id="R6eabb34d268449a4" /><Relationship Type="http://schemas.openxmlformats.org/officeDocument/2006/relationships/image" Target="/ppt/media/image10.svg" Id="R4f5120be9a67424c" /><Relationship Type="http://schemas.openxmlformats.org/officeDocument/2006/relationships/notesSlide" Target="/ppt/notesSlides/notesSlide1.xml" Id="R8277626a44b94d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pair-domain">
            <a:extLst xmlns:a="http://schemas.openxmlformats.org/drawingml/2006/main">
              <a:ext uri="{FF2B5EF4-FFF2-40B4-BE49-F238E27FC236}">
                <a16:creationId xmlns:a16="http://schemas.microsoft.com/office/drawing/2014/main" id="{CAE17C91-3F7F-4DA9-AE5E-20ABE180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28600"/>
            <a:ext cx="119253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9647"/>
            </a:solidFill>
            <a:prstDash val="dash"/>
          </a:ln>
        </p:spPr>
      </p:sp>
      <p:sp>
        <p:nvSpPr>
          <p:cNvPr id="2" name="pair-domain-titlewhite">
            <a:extLst xmlns:a="http://schemas.openxmlformats.org/drawingml/2006/main">
              <a:ext uri="{FF2B5EF4-FFF2-40B4-BE49-F238E27FC236}">
                <a16:creationId xmlns:a16="http://schemas.microsoft.com/office/drawing/2014/main" id="{992C1199-706A-4CDB-BC56-ECD76A9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14300"/>
            <a:ext cx="421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3" name="pair-domain-title">
            <a:extLst xmlns:a="http://schemas.openxmlformats.org/drawingml/2006/main">
              <a:ext uri="{FF2B5EF4-FFF2-40B4-BE49-F238E27FC236}">
                <a16:creationId xmlns:a16="http://schemas.microsoft.com/office/drawing/2014/main" id="{C4C28E0E-AC33-4B6E-8B20-50A17C19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33350"/>
            <a:ext cx="11563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196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19647"/>
                </a:solidFill>
                <a:latin typeface="Arial"/>
                <a:ea typeface="Arial"/>
                <a:cs typeface="Arial"/>
              </a:rPr>
              <a:t>Training-pair construction</a:t>
            </a:r>
          </a:p>
        </p:txBody>
      </p:sp>
      <p:sp>
        <p:nvSpPr>
          <p:cNvPr id="4" name="train-domain">
            <a:extLst xmlns:a="http://schemas.openxmlformats.org/drawingml/2006/main">
              <a:ext uri="{FF2B5EF4-FFF2-40B4-BE49-F238E27FC236}">
                <a16:creationId xmlns:a16="http://schemas.microsoft.com/office/drawing/2014/main" id="{570DB3FF-DF11-4727-8B1E-F1B74D3C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505200"/>
            <a:ext cx="119253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7BCB"/>
            </a:solidFill>
            <a:prstDash val="dash"/>
          </a:ln>
        </p:spPr>
      </p:sp>
      <p:sp>
        <p:nvSpPr>
          <p:cNvPr id="5" name="train-domain-titlewhite">
            <a:extLst xmlns:a="http://schemas.openxmlformats.org/drawingml/2006/main">
              <a:ext uri="{FF2B5EF4-FFF2-40B4-BE49-F238E27FC236}">
                <a16:creationId xmlns:a16="http://schemas.microsoft.com/office/drawing/2014/main" id="{47EB3428-F2D9-4095-8EED-6573E7F5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390900"/>
            <a:ext cx="3562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6" name="train-domain-title">
            <a:extLst xmlns:a="http://schemas.openxmlformats.org/drawingml/2006/main">
              <a:ext uri="{FF2B5EF4-FFF2-40B4-BE49-F238E27FC236}">
                <a16:creationId xmlns:a16="http://schemas.microsoft.com/office/drawing/2014/main" id="{72E58839-8239-4A28-AFDF-3DF57910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409950"/>
            <a:ext cx="11563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27BC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7BCB"/>
                </a:solidFill>
                <a:latin typeface="Arial"/>
                <a:ea typeface="Arial"/>
                <a:cs typeface="Arial"/>
              </a:rPr>
              <a:t>Alternating training steps</a:t>
            </a:r>
          </a:p>
        </p:txBody>
      </p:sp>
      <p:sp>
        <p:nvSpPr>
          <p:cNvPr id="7" name="event-group">
            <a:extLst xmlns:a="http://schemas.openxmlformats.org/drawingml/2006/main">
              <a:ext uri="{FF2B5EF4-FFF2-40B4-BE49-F238E27FC236}">
                <a16:creationId xmlns:a16="http://schemas.microsoft.com/office/drawing/2014/main" id="{912724D7-4C09-4ACA-B01B-7C79B153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2543175" cy="23145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0954">
            <a:solidFill>
              <a:srgbClr val="E8B86C"/>
            </a:solidFill>
            <a:prstDash val="solid"/>
          </a:ln>
        </p:spPr>
      </p:sp>
      <p:sp>
        <p:nvSpPr>
          <p:cNvPr id="8" name="event-title">
            <a:extLst xmlns:a="http://schemas.openxmlformats.org/drawingml/2006/main">
              <a:ext uri="{FF2B5EF4-FFF2-40B4-BE49-F238E27FC236}">
                <a16:creationId xmlns:a16="http://schemas.microsoft.com/office/drawing/2014/main" id="{031F6A40-CE3D-4CFB-A14C-108B7D4B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2219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E887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88718"/>
                </a:solidFill>
                <a:latin typeface="Arial"/>
                <a:ea typeface="Arial"/>
                <a:cs typeface="Arial"/>
              </a:rPr>
              <a:t>Structured event</a:t>
            </a:r>
          </a:p>
        </p:txBody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facde24164019">
            <a:extLst>
              <a:ext uri="{96DAC541-7B7A-43D3-8B79-37D633B846F1}">
                <asvg:svgBlip xmlns:asvg="http://schemas.microsoft.com/office/drawing/2016/SVG/main" r:embed="Rc84137864eb348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6725" y="117157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10" name="event-fields">
            <a:extLst xmlns:a="http://schemas.openxmlformats.org/drawingml/2006/main">
              <a:ext uri="{FF2B5EF4-FFF2-40B4-BE49-F238E27FC236}">
                <a16:creationId xmlns:a16="http://schemas.microsoft.com/office/drawing/2014/main" id="{D0906D82-7EB5-4E20-986C-0160C0D3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1571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Source: ball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Receiver: water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Footprint: splash</a:t>
            </a:r>
          </a:p>
        </p:txBody>
      </p:sp>
      <p:sp>
        <p:nvSpPr>
          <p:cNvPr id="11" name="factual-example-water">
            <a:extLst xmlns:a="http://schemas.openxmlformats.org/drawingml/2006/main">
              <a:ext uri="{FF2B5EF4-FFF2-40B4-BE49-F238E27FC236}">
                <a16:creationId xmlns:a16="http://schemas.microsoft.com/office/drawing/2014/main" id="{32CA83E3-AD35-43CD-8642-FA1FE270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90191"/>
            <a:ext cx="790575" cy="288036"/>
          </a:xfrm>
          <a:prstGeom xmlns:a="http://schemas.openxmlformats.org/drawingml/2006/main" prst="roundRect">
            <a:avLst>
              <a:gd name="adj" fmla="val 13228"/>
            </a:avLst>
          </a:prstGeom>
          <a:solidFill xmlns:a="http://schemas.openxmlformats.org/drawingml/2006/main">
            <a:srgbClr val="EAF5F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12" name="factual-example-vessel">
            <a:extLst xmlns:a="http://schemas.openxmlformats.org/drawingml/2006/main">
              <a:ext uri="{FF2B5EF4-FFF2-40B4-BE49-F238E27FC236}">
                <a16:creationId xmlns:a16="http://schemas.microsoft.com/office/drawing/2014/main" id="{D4AAD940-C9EC-45E9-849A-EA249D5D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05025"/>
            <a:ext cx="847725" cy="514350"/>
          </a:xfrm>
          <a:custGeom xmlns:a="http://schemas.openxmlformats.org/drawingml/2006/main">
            <a:pathLst>
              <a:path w="847725" h="514350">
                <a:moveTo>
                  <a:pt x="0" y="0"/>
                </a:moveTo>
                <a:lnTo>
                  <a:pt x="47625" y="406337"/>
                </a:lnTo>
                <a:lnTo>
                  <a:pt x="135636" y="514350"/>
                </a:lnTo>
                <a:lnTo>
                  <a:pt x="712089" y="514350"/>
                </a:lnTo>
                <a:lnTo>
                  <a:pt x="800100" y="406337"/>
                </a:lnTo>
                <a:lnTo>
                  <a:pt x="847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2526"/>
            </a:solidFill>
          </a:ln>
        </p:spPr>
      </p:sp>
      <p:sp>
        <p:nvSpPr>
          <p:cNvPr id="13" name="factual-example-surface">
            <a:extLst xmlns:a="http://schemas.openxmlformats.org/drawingml/2006/main">
              <a:ext uri="{FF2B5EF4-FFF2-40B4-BE49-F238E27FC236}">
                <a16:creationId xmlns:a16="http://schemas.microsoft.com/office/drawing/2014/main" id="{4BE6504D-4E84-48A3-B2CF-244BB859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90191"/>
            <a:ext cx="771525" cy="9525"/>
          </a:xfrm>
          <a:custGeom xmlns:a="http://schemas.openxmlformats.org/drawingml/2006/main">
            <a:pathLst>
              <a:path w="771525" h="9525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27BCB"/>
            </a:solidFill>
            <a:prstDash val="solid"/>
          </a:ln>
        </p:spPr>
      </p:sp>
      <p:sp>
        <p:nvSpPr>
          <p:cNvPr id="14" name="factual-example-ball">
            <a:extLst xmlns:a="http://schemas.openxmlformats.org/drawingml/2006/main">
              <a:ext uri="{FF2B5EF4-FFF2-40B4-BE49-F238E27FC236}">
                <a16:creationId xmlns:a16="http://schemas.microsoft.com/office/drawing/2014/main" id="{52619B41-17E3-4EDB-8722-DE8E481B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" y="19335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57B"/>
          </a:solidFill>
          <a:ln xmlns:a="http://schemas.openxmlformats.org/drawingml/2006/main" w="13335">
            <a:solidFill>
              <a:srgbClr val="242526"/>
            </a:solidFill>
          </a:ln>
        </p:spPr>
      </p:sp>
      <p:sp>
        <p:nvSpPr>
          <p:cNvPr id="15" name="factual-example-ripples">
            <a:extLst xmlns:a="http://schemas.openxmlformats.org/drawingml/2006/main">
              <a:ext uri="{FF2B5EF4-FFF2-40B4-BE49-F238E27FC236}">
                <a16:creationId xmlns:a16="http://schemas.microsoft.com/office/drawing/2014/main" id="{13D56390-B2BA-47D8-9AD0-14920761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470" y="2228469"/>
            <a:ext cx="389954" cy="11315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88718"/>
            </a:solidFill>
          </a:ln>
        </p:spPr>
      </p:sp>
      <p:sp>
        <p:nvSpPr>
          <p:cNvPr id="16" name="factual-example-splash-a">
            <a:extLst xmlns:a="http://schemas.openxmlformats.org/drawingml/2006/main">
              <a:ext uri="{FF2B5EF4-FFF2-40B4-BE49-F238E27FC236}">
                <a16:creationId xmlns:a16="http://schemas.microsoft.com/office/drawing/2014/main" id="{9F6162F0-C8BB-4E99-97B0-139F1446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720" y="1952625"/>
            <a:ext cx="118682" cy="171450"/>
          </a:xfrm>
          <a:custGeom xmlns:a="http://schemas.openxmlformats.org/drawingml/2006/main">
            <a:pathLst>
              <a:path w="118682" h="171450">
                <a:moveTo>
                  <a:pt x="118682" y="171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88718"/>
            </a:solidFill>
            <a:prstDash val="solid"/>
          </a:ln>
        </p:spPr>
      </p:sp>
      <p:sp>
        <p:nvSpPr>
          <p:cNvPr id="17" name="factual-example-splash-b">
            <a:extLst xmlns:a="http://schemas.openxmlformats.org/drawingml/2006/main">
              <a:ext uri="{FF2B5EF4-FFF2-40B4-BE49-F238E27FC236}">
                <a16:creationId xmlns:a16="http://schemas.microsoft.com/office/drawing/2014/main" id="{81757894-0908-43A7-90EE-35510B9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56" y="1905000"/>
            <a:ext cx="67818" cy="219075"/>
          </a:xfrm>
          <a:custGeom xmlns:a="http://schemas.openxmlformats.org/drawingml/2006/main">
            <a:pathLst>
              <a:path w="67818" h="219075">
                <a:moveTo>
                  <a:pt x="0" y="219075"/>
                </a:moveTo>
                <a:lnTo>
                  <a:pt x="678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88718"/>
            </a:solidFill>
            <a:prstDash val="solid"/>
          </a:ln>
        </p:spPr>
      </p:sp>
      <p:sp>
        <p:nvSpPr>
          <p:cNvPr id="18" name="factual-example-label">
            <a:extLst xmlns:a="http://schemas.openxmlformats.org/drawingml/2006/main">
              <a:ext uri="{FF2B5EF4-FFF2-40B4-BE49-F238E27FC236}">
                <a16:creationId xmlns:a16="http://schemas.microsoft.com/office/drawing/2014/main" id="{8A517713-F41A-4549-8B56-81E1A81E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574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6A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A71"/>
                </a:solidFill>
                <a:latin typeface="Arial"/>
                <a:ea typeface="Arial"/>
                <a:cs typeface="Arial"/>
              </a:rPr>
              <a:t>factual</a:t>
            </a:r>
          </a:p>
        </p:txBody>
      </p:sp>
      <p:sp>
        <p:nvSpPr>
          <p:cNvPr id="19" name="event-to-prompts-line">
            <a:extLst xmlns:a="http://schemas.openxmlformats.org/drawingml/2006/main">
              <a:ext uri="{FF2B5EF4-FFF2-40B4-BE49-F238E27FC236}">
                <a16:creationId xmlns:a16="http://schemas.microsoft.com/office/drawing/2014/main" id="{16335DBA-ACB9-4E74-9200-F8FDF618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52600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42526"/>
            </a:solidFill>
            <a:prstDash val="solid"/>
          </a:ln>
        </p:spPr>
      </p:sp>
      <p:sp>
        <p:nvSpPr>
          <p:cNvPr id="20" name="event-to-prompts-head">
            <a:extLst xmlns:a="http://schemas.openxmlformats.org/drawingml/2006/main">
              <a:ext uri="{FF2B5EF4-FFF2-40B4-BE49-F238E27FC236}">
                <a16:creationId xmlns:a16="http://schemas.microsoft.com/office/drawing/2014/main" id="{0646EF2F-5AD9-45FD-AFCC-3B6A1708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24225" y="17049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2526"/>
          </a:solidFill>
          <a:ln xmlns:a="http://schemas.openxmlformats.org/drawingml/2006/main" w="0">
            <a:noFill/>
          </a:ln>
        </p:spPr>
      </p:sp>
      <p:sp>
        <p:nvSpPr>
          <p:cNvPr id="21" name="matched-group">
            <a:extLst xmlns:a="http://schemas.openxmlformats.org/drawingml/2006/main">
              <a:ext uri="{FF2B5EF4-FFF2-40B4-BE49-F238E27FC236}">
                <a16:creationId xmlns:a16="http://schemas.microsoft.com/office/drawing/2014/main" id="{F72464DF-1D0A-4BD2-BCC7-73208086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09600"/>
            <a:ext cx="4638675" cy="981075"/>
          </a:xfrm>
          <a:prstGeom xmlns:a="http://schemas.openxmlformats.org/drawingml/2006/main" prst="roundRect">
            <a:avLst>
              <a:gd name="adj" fmla="val 17476"/>
            </a:avLst>
          </a:prstGeom>
          <a:solidFill xmlns:a="http://schemas.openxmlformats.org/drawingml/2006/main">
            <a:srgbClr val="F3FAF5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22" name="matched-title">
            <a:extLst xmlns:a="http://schemas.openxmlformats.org/drawingml/2006/main">
              <a:ext uri="{FF2B5EF4-FFF2-40B4-BE49-F238E27FC236}">
                <a16:creationId xmlns:a16="http://schemas.microsoft.com/office/drawing/2014/main" id="{E1E5CF89-4F6C-4D9A-B913-90E0B26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76275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196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9647"/>
                </a:solidFill>
                <a:latin typeface="Arial"/>
                <a:ea typeface="Arial"/>
                <a:cs typeface="Arial"/>
              </a:rPr>
              <a:t>Matched Control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5779ce4c94750">
            <a:extLst>
              <a:ext uri="{96DAC541-7B7A-43D3-8B79-37D633B846F1}">
                <asvg:svgBlip xmlns:asvg="http://schemas.microsoft.com/office/drawing/2016/SVG/main" r:embed="Rf72d3c24c05245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14750" y="10572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4" name="matched-prompt">
            <a:extLst xmlns:a="http://schemas.openxmlformats.org/drawingml/2006/main">
              <a:ext uri="{FF2B5EF4-FFF2-40B4-BE49-F238E27FC236}">
                <a16:creationId xmlns:a16="http://schemas.microsoft.com/office/drawing/2014/main" id="{F9CC812B-4395-423A-A687-1F8962AA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000125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A </a:t>
            </a:r>
            <a:r>
              <a:rPr sz="1950" b="1">
                <a:solidFill>
                  <a:srgbClr val="E88718"/>
                </a:solidFill>
                <a:latin typeface="Arial"/>
                <a:ea typeface="Arial"/>
                <a:cs typeface="Arial"/>
              </a:rPr>
              <a:t>ball</a:t>
            </a:r>
            <a:r>
              <a:rPr sz="195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 enters water.</a:t>
            </a:r>
          </a:p>
        </p:txBody>
      </p:sp>
      <p:sp>
        <p:nvSpPr>
          <p:cNvPr id="25" name="matched-effects">
            <a:extLst xmlns:a="http://schemas.openxmlformats.org/drawingml/2006/main">
              <a:ext uri="{FF2B5EF4-FFF2-40B4-BE49-F238E27FC236}">
                <a16:creationId xmlns:a16="http://schemas.microsoft.com/office/drawing/2014/main" id="{B9E30EC6-96C0-4292-8A13-5D2055C7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2763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A splash and ripples follow.</a:t>
            </a:r>
          </a:p>
        </p:txBody>
      </p:sp>
      <p:sp>
        <p:nvSpPr>
          <p:cNvPr id="26" name="srcd-group">
            <a:extLst xmlns:a="http://schemas.openxmlformats.org/drawingml/2006/main">
              <a:ext uri="{FF2B5EF4-FFF2-40B4-BE49-F238E27FC236}">
                <a16:creationId xmlns:a16="http://schemas.microsoft.com/office/drawing/2014/main" id="{6DE8551D-D8A3-43C0-8510-ADAB704F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752600"/>
            <a:ext cx="4638675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1F7FE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27" name="srcd-title">
            <a:extLst xmlns:a="http://schemas.openxmlformats.org/drawingml/2006/main">
              <a:ext uri="{FF2B5EF4-FFF2-40B4-BE49-F238E27FC236}">
                <a16:creationId xmlns:a16="http://schemas.microsoft.com/office/drawing/2014/main" id="{9BB072BE-7B40-464A-B351-B95B8265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19275"/>
            <a:ext cx="4248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27BC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7BCB"/>
                </a:solidFill>
                <a:latin typeface="Arial"/>
                <a:ea typeface="Arial"/>
                <a:cs typeface="Arial"/>
              </a:rPr>
              <a:t>SRCD</a:t>
            </a:r>
          </a:p>
        </p:txBody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f82d0572f42b3">
            <a:extLst>
              <a:ext uri="{96DAC541-7B7A-43D3-8B79-37D633B846F1}">
                <asvg:svgBlip xmlns:asvg="http://schemas.microsoft.com/office/drawing/2016/SVG/main" r:embed="Rbd1b5e5c395c44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14750" y="21907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9" name="srcd-prompt">
            <a:extLst xmlns:a="http://schemas.openxmlformats.org/drawingml/2006/main">
              <a:ext uri="{FF2B5EF4-FFF2-40B4-BE49-F238E27FC236}">
                <a16:creationId xmlns:a16="http://schemas.microsoft.com/office/drawing/2014/main" id="{8608201B-F77C-4ED1-9147-943E332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431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A </a:t>
            </a:r>
            <a:r>
              <a:rPr sz="1950" b="1">
                <a:solidFill>
                  <a:srgbClr val="227BCB"/>
                </a:solidFill>
                <a:latin typeface="Arial"/>
                <a:ea typeface="Arial"/>
                <a:cs typeface="Arial"/>
              </a:rPr>
              <a:t>pebble</a:t>
            </a:r>
            <a:r>
              <a:rPr sz="195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 enters water.</a:t>
            </a:r>
          </a:p>
        </p:txBody>
      </p:sp>
      <p:sp>
        <p:nvSpPr>
          <p:cNvPr id="30" name="srcd-effects">
            <a:extLst xmlns:a="http://schemas.openxmlformats.org/drawingml/2006/main">
              <a:ext uri="{FF2B5EF4-FFF2-40B4-BE49-F238E27FC236}">
                <a16:creationId xmlns:a16="http://schemas.microsoft.com/office/drawing/2014/main" id="{C2644F7B-7255-43B3-86C2-A78E709D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A splash and ripples follow.</a:t>
            </a:r>
          </a:p>
        </p:txBody>
      </p:sp>
      <p:sp>
        <p:nvSpPr>
          <p:cNvPr id="31" name="replacement-underlining">
            <a:extLst xmlns:a="http://schemas.openxmlformats.org/drawingml/2006/main">
              <a:ext uri="{FF2B5EF4-FFF2-40B4-BE49-F238E27FC236}">
                <a16:creationId xmlns:a16="http://schemas.microsoft.com/office/drawing/2014/main" id="{80C6B462-1D8D-4145-B632-09CA7FB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790575" cy="9525"/>
          </a:xfrm>
          <a:custGeom xmlns:a="http://schemas.openxmlformats.org/drawingml/2006/main">
            <a:pathLst>
              <a:path w="790575" h="9525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27BCB"/>
            </a:solidFill>
            <a:prstDash val="solid"/>
          </a:ln>
        </p:spPr>
      </p:sp>
      <p:sp>
        <p:nvSpPr>
          <p:cNvPr id="32" name="source-only">
            <a:extLst xmlns:a="http://schemas.openxmlformats.org/drawingml/2006/main">
              <a:ext uri="{FF2B5EF4-FFF2-40B4-BE49-F238E27FC236}">
                <a16:creationId xmlns:a16="http://schemas.microsoft.com/office/drawing/2014/main" id="{1A4AD8B1-41F1-4665-93C7-5289EF85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62275"/>
            <a:ext cx="424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227BC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7BCB"/>
                </a:solidFill>
                <a:latin typeface="Arial"/>
                <a:ea typeface="Arial"/>
                <a:cs typeface="Arial"/>
              </a:rPr>
              <a:t>Only the source identity changes</a:t>
            </a:r>
          </a:p>
        </p:txBody>
      </p:sp>
      <p:sp>
        <p:nvSpPr>
          <p:cNvPr id="33" name="pair-bracket-upper">
            <a:extLst xmlns:a="http://schemas.openxmlformats.org/drawingml/2006/main">
              <a:ext uri="{FF2B5EF4-FFF2-40B4-BE49-F238E27FC236}">
                <a16:creationId xmlns:a16="http://schemas.microsoft.com/office/drawing/2014/main" id="{3AD1BB8E-F7F3-4385-A762-07162EFC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2395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2526"/>
            </a:solidFill>
            <a:prstDash val="solid"/>
          </a:ln>
        </p:spPr>
      </p:sp>
      <p:sp>
        <p:nvSpPr>
          <p:cNvPr id="34" name="pair-bracket-vertical">
            <a:extLst xmlns:a="http://schemas.openxmlformats.org/drawingml/2006/main">
              <a:ext uri="{FF2B5EF4-FFF2-40B4-BE49-F238E27FC236}">
                <a16:creationId xmlns:a16="http://schemas.microsoft.com/office/drawing/2014/main" id="{916C1688-A194-40EA-9304-CF71C960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123950"/>
            <a:ext cx="9525" cy="1219200"/>
          </a:xfrm>
          <a:custGeom xmlns:a="http://schemas.openxmlformats.org/drawingml/2006/main">
            <a:pathLst>
              <a:path w="9525" h="1219200">
                <a:moveTo>
                  <a:pt x="0" y="0"/>
                </a:moveTo>
                <a:lnTo>
                  <a:pt x="0" y="12192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2526"/>
            </a:solidFill>
            <a:prstDash val="solid"/>
          </a:ln>
        </p:spPr>
      </p:sp>
      <p:sp>
        <p:nvSpPr>
          <p:cNvPr id="35" name="pair-bracket-lower">
            <a:extLst xmlns:a="http://schemas.openxmlformats.org/drawingml/2006/main">
              <a:ext uri="{FF2B5EF4-FFF2-40B4-BE49-F238E27FC236}">
                <a16:creationId xmlns:a16="http://schemas.microsoft.com/office/drawing/2014/main" id="{6F6AE33E-8257-41AE-8B48-2BC2B725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2526"/>
            </a:solidFill>
            <a:prstDash val="solid"/>
          </a:ln>
        </p:spPr>
      </p:sp>
      <p:sp>
        <p:nvSpPr>
          <p:cNvPr id="36" name="pair-bracket-target">
            <a:extLst xmlns:a="http://schemas.openxmlformats.org/drawingml/2006/main">
              <a:ext uri="{FF2B5EF4-FFF2-40B4-BE49-F238E27FC236}">
                <a16:creationId xmlns:a16="http://schemas.microsoft.com/office/drawing/2014/main" id="{5289832F-9CF7-477F-906C-B4FF170B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3355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42526"/>
            </a:solidFill>
            <a:prstDash val="solid"/>
          </a:ln>
        </p:spPr>
      </p:sp>
      <p:sp>
        <p:nvSpPr>
          <p:cNvPr id="37" name="pair-link-label">
            <a:extLst xmlns:a="http://schemas.openxmlformats.org/drawingml/2006/main">
              <a:ext uri="{FF2B5EF4-FFF2-40B4-BE49-F238E27FC236}">
                <a16:creationId xmlns:a16="http://schemas.microsoft.com/office/drawing/2014/main" id="{52807DC9-C7F9-4B00-948F-1F99E44C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14375"/>
            <a:ext cx="109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46A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A71"/>
                </a:solidFill>
                <a:latin typeface="Arial"/>
                <a:ea typeface="Arial"/>
                <a:cs typeface="Arial"/>
              </a:rPr>
              <a:t>paired</a:t>
            </a:r>
          </a:p>
        </p:txBody>
      </p:sp>
      <p:sp>
        <p:nvSpPr>
          <p:cNvPr id="38" name="target-title">
            <a:extLst xmlns:a="http://schemas.openxmlformats.org/drawingml/2006/main">
              <a:ext uri="{FF2B5EF4-FFF2-40B4-BE49-F238E27FC236}">
                <a16:creationId xmlns:a16="http://schemas.microsoft.com/office/drawing/2014/main" id="{8079D5A3-D164-4283-A54B-9BD8C428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04850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196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9647"/>
                </a:solidFill>
                <a:latin typeface="Arial"/>
                <a:ea typeface="Arial"/>
                <a:cs typeface="Arial"/>
              </a:rPr>
              <a:t>Source-free target</a:t>
            </a:r>
          </a:p>
        </p:txBody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09a17a1814cb1">
            <a:extLst>
              <a:ext uri="{96DAC541-7B7A-43D3-8B79-37D633B846F1}">
                <asvg:svgBlip xmlns:asvg="http://schemas.microsoft.com/office/drawing/2016/SVG/main" r:embed="R82352571adc143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34450" y="11715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0" name="target-frame-0">
            <a:extLst xmlns:a="http://schemas.openxmlformats.org/drawingml/2006/main">
              <a:ext uri="{FF2B5EF4-FFF2-40B4-BE49-F238E27FC236}">
                <a16:creationId xmlns:a16="http://schemas.microsoft.com/office/drawing/2014/main" id="{1701C775-4E01-48AE-A6B4-5A3EA0FF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181100"/>
            <a:ext cx="714375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41" name="target-example-0-water">
            <a:extLst xmlns:a="http://schemas.openxmlformats.org/drawingml/2006/main">
              <a:ext uri="{FF2B5EF4-FFF2-40B4-BE49-F238E27FC236}">
                <a16:creationId xmlns:a16="http://schemas.microsoft.com/office/drawing/2014/main" id="{9D595CD7-0D61-4680-8921-18F29E2C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490091"/>
            <a:ext cx="504825" cy="154686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EAF5F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42" name="target-example-0-vessel">
            <a:extLst xmlns:a="http://schemas.openxmlformats.org/drawingml/2006/main">
              <a:ext uri="{FF2B5EF4-FFF2-40B4-BE49-F238E27FC236}">
                <a16:creationId xmlns:a16="http://schemas.microsoft.com/office/drawing/2014/main" id="{A0D5C201-86DF-405C-9089-110C3259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90650"/>
            <a:ext cx="561975" cy="276225"/>
          </a:xfrm>
          <a:custGeom xmlns:a="http://schemas.openxmlformats.org/drawingml/2006/main">
            <a:pathLst>
              <a:path w="561975" h="276225">
                <a:moveTo>
                  <a:pt x="0" y="0"/>
                </a:moveTo>
                <a:lnTo>
                  <a:pt x="47625" y="218218"/>
                </a:lnTo>
                <a:lnTo>
                  <a:pt x="89916" y="276225"/>
                </a:lnTo>
                <a:lnTo>
                  <a:pt x="472059" y="276225"/>
                </a:lnTo>
                <a:lnTo>
                  <a:pt x="514350" y="218218"/>
                </a:ln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2526"/>
            </a:solidFill>
          </a:ln>
        </p:spPr>
      </p:sp>
      <p:sp>
        <p:nvSpPr>
          <p:cNvPr id="43" name="target-example-0-surface">
            <a:extLst xmlns:a="http://schemas.openxmlformats.org/drawingml/2006/main">
              <a:ext uri="{FF2B5EF4-FFF2-40B4-BE49-F238E27FC236}">
                <a16:creationId xmlns:a16="http://schemas.microsoft.com/office/drawing/2014/main" id="{CCFA67C0-449F-4E42-8ABC-CD99060F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90091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27BCB"/>
            </a:solidFill>
            <a:prstDash val="solid"/>
          </a:ln>
        </p:spPr>
      </p:sp>
      <p:sp>
        <p:nvSpPr>
          <p:cNvPr id="44" name="target-frame-1">
            <a:extLst xmlns:a="http://schemas.openxmlformats.org/drawingml/2006/main">
              <a:ext uri="{FF2B5EF4-FFF2-40B4-BE49-F238E27FC236}">
                <a16:creationId xmlns:a16="http://schemas.microsoft.com/office/drawing/2014/main" id="{5B68FA4E-7A22-4FF5-98DF-5BF2A0C5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181100"/>
            <a:ext cx="714375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45" name="target-example-1-water">
            <a:extLst xmlns:a="http://schemas.openxmlformats.org/drawingml/2006/main">
              <a:ext uri="{FF2B5EF4-FFF2-40B4-BE49-F238E27FC236}">
                <a16:creationId xmlns:a16="http://schemas.microsoft.com/office/drawing/2014/main" id="{26FFDB0C-146A-4AD1-AB9E-99F0F135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490091"/>
            <a:ext cx="504825" cy="154686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EAF5F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46" name="target-example-1-vessel">
            <a:extLst xmlns:a="http://schemas.openxmlformats.org/drawingml/2006/main">
              <a:ext uri="{FF2B5EF4-FFF2-40B4-BE49-F238E27FC236}">
                <a16:creationId xmlns:a16="http://schemas.microsoft.com/office/drawing/2014/main" id="{EC970655-FDFC-4952-93E6-219C7F6A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390650"/>
            <a:ext cx="561975" cy="276225"/>
          </a:xfrm>
          <a:custGeom xmlns:a="http://schemas.openxmlformats.org/drawingml/2006/main">
            <a:pathLst>
              <a:path w="561975" h="276225">
                <a:moveTo>
                  <a:pt x="0" y="0"/>
                </a:moveTo>
                <a:lnTo>
                  <a:pt x="47625" y="218218"/>
                </a:lnTo>
                <a:lnTo>
                  <a:pt x="89916" y="276225"/>
                </a:lnTo>
                <a:lnTo>
                  <a:pt x="472059" y="276225"/>
                </a:lnTo>
                <a:lnTo>
                  <a:pt x="514350" y="218218"/>
                </a:ln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2526"/>
            </a:solidFill>
          </a:ln>
        </p:spPr>
      </p:sp>
      <p:sp>
        <p:nvSpPr>
          <p:cNvPr id="47" name="target-example-1-surface">
            <a:extLst xmlns:a="http://schemas.openxmlformats.org/drawingml/2006/main">
              <a:ext uri="{FF2B5EF4-FFF2-40B4-BE49-F238E27FC236}">
                <a16:creationId xmlns:a16="http://schemas.microsoft.com/office/drawing/2014/main" id="{4634E86D-E852-4FFA-B89C-109FF885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90091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27BCB"/>
            </a:solidFill>
            <a:prstDash val="solid"/>
          </a:ln>
        </p:spPr>
      </p:sp>
      <p:sp>
        <p:nvSpPr>
          <p:cNvPr id="48" name="target-frame-2">
            <a:extLst xmlns:a="http://schemas.openxmlformats.org/drawingml/2006/main">
              <a:ext uri="{FF2B5EF4-FFF2-40B4-BE49-F238E27FC236}">
                <a16:creationId xmlns:a16="http://schemas.microsoft.com/office/drawing/2014/main" id="{F44D1E7F-978B-4DD0-B070-D6E10C4E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181100"/>
            <a:ext cx="714375" cy="6477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49" name="target-example-2-water">
            <a:extLst xmlns:a="http://schemas.openxmlformats.org/drawingml/2006/main">
              <a:ext uri="{FF2B5EF4-FFF2-40B4-BE49-F238E27FC236}">
                <a16:creationId xmlns:a16="http://schemas.microsoft.com/office/drawing/2014/main" id="{9C5EF76C-42D4-4D41-B650-7732F78D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1490091"/>
            <a:ext cx="504825" cy="154686"/>
          </a:xfrm>
          <a:prstGeom xmlns:a="http://schemas.openxmlformats.org/drawingml/2006/main" prst="roundRect">
            <a:avLst>
              <a:gd name="adj" fmla="val 24631"/>
            </a:avLst>
          </a:prstGeom>
          <a:solidFill xmlns:a="http://schemas.openxmlformats.org/drawingml/2006/main">
            <a:srgbClr val="EAF5FE"/>
          </a:solidFill>
          <a:ln xmlns:a="http://schemas.openxmlformats.org/drawingml/2006/main" w="10954">
            <a:noFill/>
            <a:prstDash val="solid"/>
          </a:ln>
        </p:spPr>
      </p:sp>
      <p:sp>
        <p:nvSpPr>
          <p:cNvPr id="50" name="target-example-2-vessel">
            <a:extLst xmlns:a="http://schemas.openxmlformats.org/drawingml/2006/main">
              <a:ext uri="{FF2B5EF4-FFF2-40B4-BE49-F238E27FC236}">
                <a16:creationId xmlns:a16="http://schemas.microsoft.com/office/drawing/2014/main" id="{C8C5FFB7-9DE6-44BA-A808-033989A1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90650"/>
            <a:ext cx="561975" cy="276225"/>
          </a:xfrm>
          <a:custGeom xmlns:a="http://schemas.openxmlformats.org/drawingml/2006/main">
            <a:pathLst>
              <a:path w="561975" h="276225">
                <a:moveTo>
                  <a:pt x="0" y="0"/>
                </a:moveTo>
                <a:lnTo>
                  <a:pt x="47625" y="218218"/>
                </a:lnTo>
                <a:lnTo>
                  <a:pt x="89916" y="276225"/>
                </a:lnTo>
                <a:lnTo>
                  <a:pt x="472059" y="276225"/>
                </a:lnTo>
                <a:lnTo>
                  <a:pt x="514350" y="218218"/>
                </a:lnTo>
                <a:lnTo>
                  <a:pt x="561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2526"/>
            </a:solidFill>
          </a:ln>
        </p:spPr>
      </p:sp>
      <p:sp>
        <p:nvSpPr>
          <p:cNvPr id="51" name="target-example-2-surface">
            <a:extLst xmlns:a="http://schemas.openxmlformats.org/drawingml/2006/main">
              <a:ext uri="{FF2B5EF4-FFF2-40B4-BE49-F238E27FC236}">
                <a16:creationId xmlns:a16="http://schemas.microsoft.com/office/drawing/2014/main" id="{28FF33A8-EEDF-4851-B9B6-7F93175E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490091"/>
            <a:ext cx="485775" cy="9525"/>
          </a:xfrm>
          <a:custGeom xmlns:a="http://schemas.openxmlformats.org/drawingml/2006/main">
            <a:pathLst>
              <a:path w="485775" h="9525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27BCB"/>
            </a:solidFill>
            <a:prstDash val="solid"/>
          </a:ln>
        </p:spPr>
      </p:sp>
      <p:sp>
        <p:nvSpPr>
          <p:cNvPr id="52" name="target-proxy">
            <a:extLst xmlns:a="http://schemas.openxmlformats.org/drawingml/2006/main">
              <a:ext uri="{FF2B5EF4-FFF2-40B4-BE49-F238E27FC236}">
                <a16:creationId xmlns:a16="http://schemas.microsoft.com/office/drawing/2014/main" id="{96FB9E2C-F84A-477D-8C78-EF3D07AE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89547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46A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A71"/>
                </a:solidFill>
                <a:latin typeface="Arial"/>
                <a:ea typeface="Arial"/>
                <a:cs typeface="Arial"/>
              </a:rPr>
              <a:t>Independent, screened proxy</a:t>
            </a:r>
          </a:p>
        </p:txBody>
      </p:sp>
      <p:sp>
        <p:nvSpPr>
          <p:cNvPr id="53" name="target-specificity-divider">
            <a:extLst xmlns:a="http://schemas.openxmlformats.org/drawingml/2006/main">
              <a:ext uri="{FF2B5EF4-FFF2-40B4-BE49-F238E27FC236}">
                <a16:creationId xmlns:a16="http://schemas.microsoft.com/office/drawing/2014/main" id="{384246F3-47A4-4925-AE5A-4B6DB79C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76475"/>
            <a:ext cx="2867025" cy="9525"/>
          </a:xfrm>
          <a:custGeom xmlns:a="http://schemas.openxmlformats.org/drawingml/2006/main">
            <a:pathLst>
              <a:path w="2867025" h="9525">
                <a:moveTo>
                  <a:pt x="0" y="0"/>
                </a:moveTo>
                <a:lnTo>
                  <a:pt x="2867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3B8"/>
            </a:solidFill>
            <a:prstDash val="solid"/>
          </a:ln>
        </p:spPr>
      </p:sp>
      <p:sp>
        <p:nvSpPr>
          <p:cNvPr id="54" name="same-noun-ball">
            <a:extLst xmlns:a="http://schemas.openxmlformats.org/drawingml/2006/main">
              <a:ext uri="{FF2B5EF4-FFF2-40B4-BE49-F238E27FC236}">
                <a16:creationId xmlns:a16="http://schemas.microsoft.com/office/drawing/2014/main" id="{77E76E6B-29E9-4871-8FBC-B9106CA5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95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57B"/>
          </a:solidFill>
          <a:ln xmlns:a="http://schemas.openxmlformats.org/drawingml/2006/main" w="13335">
            <a:solidFill>
              <a:srgbClr val="242526"/>
            </a:solidFill>
          </a:ln>
        </p:spPr>
      </p:sp>
      <p:sp>
        <p:nvSpPr>
          <p:cNvPr id="55" name="same-noun-platform">
            <a:extLst xmlns:a="http://schemas.openxmlformats.org/drawingml/2006/main">
              <a:ext uri="{FF2B5EF4-FFF2-40B4-BE49-F238E27FC236}">
                <a16:creationId xmlns:a16="http://schemas.microsoft.com/office/drawing/2014/main" id="{2EE9DE2C-1943-4BA0-BB20-C24F8D24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98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2526"/>
            </a:solidFill>
            <a:prstDash val="solid"/>
          </a:ln>
        </p:spPr>
      </p:sp>
      <p:sp>
        <p:nvSpPr>
          <p:cNvPr id="56" name="specificity-heading">
            <a:extLst xmlns:a="http://schemas.openxmlformats.org/drawingml/2006/main">
              <a:ext uri="{FF2B5EF4-FFF2-40B4-BE49-F238E27FC236}">
                <a16:creationId xmlns:a16="http://schemas.microsoft.com/office/drawing/2014/main" id="{B83CEA3F-E62F-477A-A40F-19E1FE92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52675"/>
            <a:ext cx="23526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196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9647"/>
                </a:solidFill>
                <a:latin typeface="Arial"/>
                <a:ea typeface="Arial"/>
                <a:cs typeface="Arial"/>
              </a:rPr>
              <a:t>Specificity</a:t>
            </a:r>
          </a:p>
        </p:txBody>
      </p:sp>
      <p:sp>
        <p:nvSpPr>
          <p:cNvPr id="57" name="same-noun-task">
            <a:extLst xmlns:a="http://schemas.openxmlformats.org/drawingml/2006/main">
              <a:ext uri="{FF2B5EF4-FFF2-40B4-BE49-F238E27FC236}">
                <a16:creationId xmlns:a16="http://schemas.microsoft.com/office/drawing/2014/main" id="{102660BE-BA04-4317-B819-7DB129FD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00325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Noncausal ball: retain</a:t>
            </a:r>
          </a:p>
        </p:txBody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f666ca34342f3">
            <a:extLst>
              <a:ext uri="{96DAC541-7B7A-43D3-8B79-37D633B846F1}">
                <asvg:svgBlip xmlns:asvg="http://schemas.microsoft.com/office/drawing/2016/SVG/main" r:embed="R32155d893bb442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0075" y="392430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59" name="latent-input">
            <a:extLst xmlns:a="http://schemas.openxmlformats.org/drawingml/2006/main">
              <a:ext uri="{FF2B5EF4-FFF2-40B4-BE49-F238E27FC236}">
                <a16:creationId xmlns:a16="http://schemas.microsoft.com/office/drawing/2014/main" id="{6EC2B805-70C0-405D-95C6-355642ED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486275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Same noised latent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+ timestep</a:t>
            </a:r>
          </a:p>
        </p:txBody>
      </p:sp>
      <p:sp>
        <p:nvSpPr>
          <p:cNvPr id="60" name="shared-input-to-models-line">
            <a:extLst xmlns:a="http://schemas.openxmlformats.org/drawingml/2006/main">
              <a:ext uri="{FF2B5EF4-FFF2-40B4-BE49-F238E27FC236}">
                <a16:creationId xmlns:a16="http://schemas.microsoft.com/office/drawing/2014/main" id="{2D539D3F-26F5-40BD-938C-B4F07542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352925"/>
            <a:ext cx="400050" cy="9525"/>
          </a:xfrm>
          <a:custGeom xmlns:a="http://schemas.openxmlformats.org/drawingml/2006/main"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42526"/>
            </a:solidFill>
            <a:prstDash val="solid"/>
          </a:ln>
        </p:spPr>
      </p:sp>
      <p:sp>
        <p:nvSpPr>
          <p:cNvPr id="61" name="shared-input-to-models-head">
            <a:extLst xmlns:a="http://schemas.openxmlformats.org/drawingml/2006/main">
              <a:ext uri="{FF2B5EF4-FFF2-40B4-BE49-F238E27FC236}">
                <a16:creationId xmlns:a16="http://schemas.microsoft.com/office/drawing/2014/main" id="{02AD5D57-C360-4883-8A24-09AC2402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90750" y="43053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2526"/>
          </a:solidFill>
          <a:ln xmlns:a="http://schemas.openxmlformats.org/drawingml/2006/main" w="0">
            <a:noFill/>
          </a:ln>
        </p:spPr>
      </p:sp>
      <p:sp>
        <p:nvSpPr>
          <p:cNvPr id="62" name="models-region">
            <a:extLst xmlns:a="http://schemas.openxmlformats.org/drawingml/2006/main">
              <a:ext uri="{FF2B5EF4-FFF2-40B4-BE49-F238E27FC236}">
                <a16:creationId xmlns:a16="http://schemas.microsoft.com/office/drawing/2014/main" id="{62EC6DAB-3C92-4A25-8AE9-9953A4F1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00475"/>
            <a:ext cx="3476625" cy="1381125"/>
          </a:xfrm>
          <a:prstGeom xmlns:a="http://schemas.openxmlformats.org/drawingml/2006/main" prst="roundRect">
            <a:avLst>
              <a:gd name="adj" fmla="val 11724"/>
            </a:avLst>
          </a:prstGeom>
          <a:solidFill xmlns:a="http://schemas.openxmlformats.org/drawingml/2006/main">
            <a:srgbClr val="F8F3FC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63" name="models-title">
            <a:extLst xmlns:a="http://schemas.openxmlformats.org/drawingml/2006/main">
              <a:ext uri="{FF2B5EF4-FFF2-40B4-BE49-F238E27FC236}">
                <a16:creationId xmlns:a16="http://schemas.microsoft.com/office/drawing/2014/main" id="{EB70FBBC-901D-4E73-A422-D3AC3EFD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86200"/>
            <a:ext cx="3133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8652B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652B7"/>
                </a:solidFill>
                <a:latin typeface="Arial"/>
                <a:ea typeface="Arial"/>
                <a:cs typeface="Arial"/>
              </a:rPr>
              <a:t>Separate LoRA arms</a:t>
            </a:r>
          </a:p>
        </p:txBody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4133aa855460f">
            <a:extLst>
              <a:ext uri="{96DAC541-7B7A-43D3-8B79-37D633B846F1}">
                <asvg:svgBlip xmlns:asvg="http://schemas.microsoft.com/office/drawing/2016/SVG/main" r:embed="Rbacb6c6f6ec146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81275" y="4276725"/>
            <a:ext cx="447675" cy="447675"/>
          </a:xfrm>
          <a:prstGeom xmlns:a="http://schemas.openxmlformats.org/drawingml/2006/main" prst="rect">
            <a:avLst/>
          </a:prstGeom>
        </p:spPr>
      </p:pic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7fd75a38447b5">
            <a:extLst>
              <a:ext uri="{96DAC541-7B7A-43D3-8B79-37D633B846F1}">
                <asvg:svgBlip xmlns:asvg="http://schemas.microsoft.com/office/drawing/2016/SVG/main" r:embed="Re3ffecb4c08441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43225" y="427672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66" name="frozen-teacher">
            <a:extLst xmlns:a="http://schemas.openxmlformats.org/drawingml/2006/main">
              <a:ext uri="{FF2B5EF4-FFF2-40B4-BE49-F238E27FC236}">
                <a16:creationId xmlns:a16="http://schemas.microsoft.com/office/drawing/2014/main" id="{572979E5-57EE-483C-A2E8-CC364C8B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629150"/>
            <a:ext cx="1685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Frozen teacher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Source-free text</a:t>
            </a:r>
          </a:p>
        </p:txBody>
      </p:sp>
      <p:sp>
        <p:nvSpPr>
          <p:cNvPr id="67" name="m-student">
            <a:extLst xmlns:a="http://schemas.openxmlformats.org/drawingml/2006/main">
              <a:ext uri="{FF2B5EF4-FFF2-40B4-BE49-F238E27FC236}">
                <a16:creationId xmlns:a16="http://schemas.microsoft.com/office/drawing/2014/main" id="{7749DC50-A177-4E79-8B85-0C7FE2FF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38625"/>
            <a:ext cx="151447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68" name="s-student">
            <a:extLst xmlns:a="http://schemas.openxmlformats.org/drawingml/2006/main">
              <a:ext uri="{FF2B5EF4-FFF2-40B4-BE49-F238E27FC236}">
                <a16:creationId xmlns:a16="http://schemas.microsoft.com/office/drawing/2014/main" id="{456878F1-CDC5-4F4F-A317-944F5EFB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724400"/>
            <a:ext cx="151447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69" name="m-label">
            <a:extLst xmlns:a="http://schemas.openxmlformats.org/drawingml/2006/main">
              <a:ext uri="{FF2B5EF4-FFF2-40B4-BE49-F238E27FC236}">
                <a16:creationId xmlns:a16="http://schemas.microsoft.com/office/drawing/2014/main" id="{CC0985EF-6A38-4891-9753-AB60C1E9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76725"/>
            <a:ext cx="1381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196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9647"/>
                </a:solidFill>
                <a:latin typeface="Arial"/>
                <a:ea typeface="Arial"/>
                <a:cs typeface="Arial"/>
              </a:rPr>
              <a:t>Matched</a:t>
            </a:r>
          </a:p>
        </p:txBody>
      </p:sp>
      <p:sp>
        <p:nvSpPr>
          <p:cNvPr id="70" name="s-label">
            <a:extLst xmlns:a="http://schemas.openxmlformats.org/drawingml/2006/main">
              <a:ext uri="{FF2B5EF4-FFF2-40B4-BE49-F238E27FC236}">
                <a16:creationId xmlns:a16="http://schemas.microsoft.com/office/drawing/2014/main" id="{C906D8C6-8BAB-4039-96FE-722222A0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62500"/>
            <a:ext cx="1381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7BC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7BCB"/>
                </a:solidFill>
                <a:latin typeface="Arial"/>
                <a:ea typeface="Arial"/>
                <a:cs typeface="Arial"/>
              </a:rPr>
              <a:t>SRCD</a:t>
            </a:r>
          </a:p>
        </p:txBody>
      </p:sp>
      <p:sp>
        <p:nvSpPr>
          <p:cNvPr id="71" name="matched-to-loss-line">
            <a:extLst xmlns:a="http://schemas.openxmlformats.org/drawingml/2006/main">
              <a:ext uri="{FF2B5EF4-FFF2-40B4-BE49-F238E27FC236}">
                <a16:creationId xmlns:a16="http://schemas.microsoft.com/office/drawing/2014/main" id="{F337C3A1-DE0F-4FE3-B196-9D0259AC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19600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42526"/>
            </a:solidFill>
            <a:prstDash val="solid"/>
          </a:ln>
        </p:spPr>
      </p:sp>
      <p:sp>
        <p:nvSpPr>
          <p:cNvPr id="72" name="matched-to-loss-head">
            <a:extLst xmlns:a="http://schemas.openxmlformats.org/drawingml/2006/main">
              <a:ext uri="{FF2B5EF4-FFF2-40B4-BE49-F238E27FC236}">
                <a16:creationId xmlns:a16="http://schemas.microsoft.com/office/drawing/2014/main" id="{9C504CC8-9FE5-41E2-8565-2A33EC94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86500" y="43719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2526"/>
          </a:solidFill>
          <a:ln xmlns:a="http://schemas.openxmlformats.org/drawingml/2006/main" w="0">
            <a:noFill/>
          </a:ln>
        </p:spPr>
      </p:sp>
      <p:sp>
        <p:nvSpPr>
          <p:cNvPr id="73" name="srcd-to-loss-line">
            <a:extLst xmlns:a="http://schemas.openxmlformats.org/drawingml/2006/main">
              <a:ext uri="{FF2B5EF4-FFF2-40B4-BE49-F238E27FC236}">
                <a16:creationId xmlns:a16="http://schemas.microsoft.com/office/drawing/2014/main" id="{BA138D5D-07F5-4C4E-8816-F877D220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90537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42526"/>
            </a:solidFill>
            <a:prstDash val="solid"/>
          </a:ln>
        </p:spPr>
      </p:sp>
      <p:sp>
        <p:nvSpPr>
          <p:cNvPr id="74" name="srcd-to-loss-head">
            <a:extLst xmlns:a="http://schemas.openxmlformats.org/drawingml/2006/main">
              <a:ext uri="{FF2B5EF4-FFF2-40B4-BE49-F238E27FC236}">
                <a16:creationId xmlns:a16="http://schemas.microsoft.com/office/drawing/2014/main" id="{1745C74E-C94C-4217-ABCA-F00D0148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86500" y="4857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2526"/>
          </a:solidFill>
          <a:ln xmlns:a="http://schemas.openxmlformats.org/drawingml/2006/main" w="0">
            <a:noFill/>
          </a:ln>
        </p:spPr>
      </p:sp>
      <p:sp>
        <p:nvSpPr>
          <p:cNvPr id="75" name="erase-region">
            <a:extLst xmlns:a="http://schemas.openxmlformats.org/drawingml/2006/main">
              <a:ext uri="{FF2B5EF4-FFF2-40B4-BE49-F238E27FC236}">
                <a16:creationId xmlns:a16="http://schemas.microsoft.com/office/drawing/2014/main" id="{2C4F34E2-8168-4F82-831B-B1065E36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00475"/>
            <a:ext cx="2371725" cy="1381125"/>
          </a:xfrm>
          <a:prstGeom xmlns:a="http://schemas.openxmlformats.org/drawingml/2006/main" prst="roundRect">
            <a:avLst>
              <a:gd name="adj" fmla="val 11724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76" name="erase-title">
            <a:extLst xmlns:a="http://schemas.openxmlformats.org/drawingml/2006/main">
              <a:ext uri="{FF2B5EF4-FFF2-40B4-BE49-F238E27FC236}">
                <a16:creationId xmlns:a16="http://schemas.microsoft.com/office/drawing/2014/main" id="{BD8E20A1-A2E3-4F93-AA24-91030A42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95725"/>
            <a:ext cx="2066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887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88718"/>
                </a:solidFill>
                <a:latin typeface="Arial"/>
                <a:ea typeface="Arial"/>
                <a:cs typeface="Arial"/>
              </a:rPr>
              <a:t>Erasure update</a:t>
            </a:r>
          </a:p>
        </p:txBody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c89cb0db2465d">
            <a:extLst>
              <a:ext uri="{96DAC541-7B7A-43D3-8B79-37D633B846F1}">
                <asvg:svgBlip xmlns:asvg="http://schemas.microsoft.com/office/drawing/2016/SVG/main" r:embed="R764b88c1e37c43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48450" y="4371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8" name="erase-loss">
            <a:extLst xmlns:a="http://schemas.openxmlformats.org/drawingml/2006/main">
              <a:ext uri="{FF2B5EF4-FFF2-40B4-BE49-F238E27FC236}">
                <a16:creationId xmlns:a16="http://schemas.microsoft.com/office/drawing/2014/main" id="{788D571E-85D8-4B0C-A0DC-6EB3DC48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19575"/>
            <a:ext cx="1504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Flow fitting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Distillation</a:t>
            </a:r>
          </a:p>
        </p:txBody>
      </p:sp>
      <p:sp>
        <p:nvSpPr>
          <p:cNvPr id="79" name="per-arm-update">
            <a:extLst xmlns:a="http://schemas.openxmlformats.org/drawingml/2006/main">
              <a:ext uri="{FF2B5EF4-FFF2-40B4-BE49-F238E27FC236}">
                <a16:creationId xmlns:a16="http://schemas.microsoft.com/office/drawing/2014/main" id="{DF4F3DDE-1040-498B-B2B0-522C6DF3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958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646A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6A71"/>
                </a:solidFill>
                <a:latin typeface="Arial"/>
                <a:ea typeface="Arial"/>
                <a:cs typeface="Arial"/>
              </a:rPr>
              <a:t>Separate per arm</a:t>
            </a:r>
          </a:p>
        </p:txBody>
      </p:sp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efe305f2b47c5">
            <a:extLst>
              <a:ext uri="{96DAC541-7B7A-43D3-8B79-37D633B846F1}">
                <asvg:svgBlip xmlns:asvg="http://schemas.microsoft.com/office/drawing/2016/SVG/main" r:embed="R32c64635e49f4c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20175" y="43053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82" name="preserve-region">
            <a:extLst xmlns:a="http://schemas.openxmlformats.org/drawingml/2006/main">
              <a:ext uri="{FF2B5EF4-FFF2-40B4-BE49-F238E27FC236}">
                <a16:creationId xmlns:a16="http://schemas.microsoft.com/office/drawing/2014/main" id="{58851A51-EE6F-45A6-B990-C1024E53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00475"/>
            <a:ext cx="2295525" cy="1381125"/>
          </a:xfrm>
          <a:prstGeom xmlns:a="http://schemas.openxmlformats.org/drawingml/2006/main" prst="roundRect">
            <a:avLst>
              <a:gd name="adj" fmla="val 11724"/>
            </a:avLst>
          </a:prstGeom>
          <a:solidFill xmlns:a="http://schemas.openxmlformats.org/drawingml/2006/main">
            <a:srgbClr val="F1F7FE"/>
          </a:solidFill>
          <a:ln xmlns:a="http://schemas.openxmlformats.org/drawingml/2006/main" w="10954">
            <a:solidFill>
              <a:srgbClr val="ADB3B8"/>
            </a:solidFill>
            <a:prstDash val="solid"/>
          </a:ln>
        </p:spPr>
      </p:sp>
      <p:sp>
        <p:nvSpPr>
          <p:cNvPr id="83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B91BA782-F50F-4E4D-A4D6-3D351CEC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886200"/>
            <a:ext cx="2105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27BC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7BCB"/>
                </a:solidFill>
                <a:latin typeface="Arial"/>
                <a:ea typeface="Arial"/>
                <a:cs typeface="Arial"/>
              </a:rPr>
              <a:t>Preservation</a:t>
            </a:r>
          </a:p>
        </p:txBody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bb34d268449a4">
            <a:extLst>
              <a:ext uri="{96DAC541-7B7A-43D3-8B79-37D633B846F1}">
                <asvg:svgBlip xmlns:asvg="http://schemas.microsoft.com/office/drawing/2016/SVG/main" r:embed="R4f5120be9a6742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15500" y="4305300"/>
            <a:ext cx="409575" cy="409575"/>
          </a:xfrm>
          <a:prstGeom xmlns:a="http://schemas.openxmlformats.org/drawingml/2006/main" prst="rect">
            <a:avLst/>
          </a:prstGeom>
        </p:spPr>
      </p:pic>
      <p:sp>
        <p:nvSpPr>
          <p:cNvPr id="85" name="preserve-data">
            <a:extLst xmlns:a="http://schemas.openxmlformats.org/drawingml/2006/main">
              <a:ext uri="{FF2B5EF4-FFF2-40B4-BE49-F238E27FC236}">
                <a16:creationId xmlns:a16="http://schemas.microsoft.com/office/drawing/2014/main" id="{1FE25A72-FDBB-472D-BB12-89174433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229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Generic video</a:t>
            </a:r>
          </a:p>
        </p:txBody>
      </p:sp>
      <p:sp>
        <p:nvSpPr>
          <p:cNvPr id="86" name="preserve-loss">
            <a:extLst xmlns:a="http://schemas.openxmlformats.org/drawingml/2006/main">
              <a:ext uri="{FF2B5EF4-FFF2-40B4-BE49-F238E27FC236}">
                <a16:creationId xmlns:a16="http://schemas.microsoft.com/office/drawing/2014/main" id="{3245A8CF-F427-452F-BBC0-3FE69761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55295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Student / base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25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526"/>
                </a:solidFill>
                <a:latin typeface="Arial"/>
                <a:ea typeface="Arial"/>
                <a:cs typeface="Arial"/>
              </a:rPr>
              <a:t>matching</a:t>
            </a:r>
          </a:p>
        </p:txBody>
      </p:sp>
    </p:spTree>
    <p:extLst>
      <p:ext uri="{BB962C8B-B14F-4D97-AF65-F5344CB8AC3E}">
        <p14:creationId xmlns:p14="http://schemas.microsoft.com/office/powerpoint/2010/main" val="44818026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2026-09-11T11:39:09.2020000Z</dcterms:created>
  <dcterms:modified xsi:type="dcterms:W3CDTF">2026-09-11T11:39:09.2020000Z</dcterms:modified>
</coreProperties>
</file>